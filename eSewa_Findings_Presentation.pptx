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sh Sharma" userId="a7ea290c-3d2a-40af-adb6-a39efae6b028" providerId="ADAL" clId="{08BF48A7-2BA5-46F4-B74C-BF012D1059F4}"/>
    <pc:docChg chg="custSel delSld modSld">
      <pc:chgData name="Shailesh Sharma" userId="a7ea290c-3d2a-40af-adb6-a39efae6b028" providerId="ADAL" clId="{08BF48A7-2BA5-46F4-B74C-BF012D1059F4}" dt="2026-08-14T04:37:12.543" v="204" actId="207"/>
      <pc:docMkLst>
        <pc:docMk/>
      </pc:docMkLst>
      <pc:sldChg chg="modSp mod">
        <pc:chgData name="Shailesh Sharma" userId="a7ea290c-3d2a-40af-adb6-a39efae6b028" providerId="ADAL" clId="{08BF48A7-2BA5-46F4-B74C-BF012D1059F4}" dt="2026-08-13T06:31:49.372" v="19" actId="20577"/>
        <pc:sldMkLst>
          <pc:docMk/>
          <pc:sldMk cId="0" sldId="256"/>
        </pc:sldMkLst>
        <pc:spChg chg="mod">
          <ac:chgData name="Shailesh Sharma" userId="a7ea290c-3d2a-40af-adb6-a39efae6b028" providerId="ADAL" clId="{08BF48A7-2BA5-46F4-B74C-BF012D1059F4}" dt="2026-08-13T06:31:49.372" v="1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3T06:31:41.002" v="1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4T04:35:56.919" v="194" actId="207"/>
        <pc:sldMkLst>
          <pc:docMk/>
          <pc:sldMk cId="0" sldId="257"/>
        </pc:sldMkLst>
        <pc:spChg chg="mod">
          <ac:chgData name="Shailesh Sharma" userId="a7ea290c-3d2a-40af-adb6-a39efae6b028" providerId="ADAL" clId="{08BF48A7-2BA5-46F4-B74C-BF012D1059F4}" dt="2026-08-14T04:35:56.919" v="194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5:54.349" v="193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5:51.689" v="192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5:49.168" v="191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3T06:32:48.019" v="20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3T06:33:14.993" v="34" actId="20577"/>
        <pc:sldMkLst>
          <pc:docMk/>
          <pc:sldMk cId="0" sldId="258"/>
        </pc:sldMkLst>
        <pc:spChg chg="mod">
          <ac:chgData name="Shailesh Sharma" userId="a7ea290c-3d2a-40af-adb6-a39efae6b028" providerId="ADAL" clId="{08BF48A7-2BA5-46F4-B74C-BF012D1059F4}" dt="2026-08-13T06:33:14.993" v="34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3T06:33:51.141" v="48" actId="20577"/>
        <pc:sldMkLst>
          <pc:docMk/>
          <pc:sldMk cId="0" sldId="259"/>
        </pc:sldMkLst>
        <pc:spChg chg="mod">
          <ac:chgData name="Shailesh Sharma" userId="a7ea290c-3d2a-40af-adb6-a39efae6b028" providerId="ADAL" clId="{08BF48A7-2BA5-46F4-B74C-BF012D1059F4}" dt="2026-08-13T06:33:51.141" v="48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4T04:36:08.549" v="195" actId="207"/>
        <pc:sldMkLst>
          <pc:docMk/>
          <pc:sldMk cId="0" sldId="260"/>
        </pc:sldMkLst>
        <pc:spChg chg="mod">
          <ac:chgData name="Shailesh Sharma" userId="a7ea290c-3d2a-40af-adb6-a39efae6b028" providerId="ADAL" clId="{08BF48A7-2BA5-46F4-B74C-BF012D1059F4}" dt="2026-08-13T06:34:45.908" v="49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6:08.549" v="195" actId="20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3T06:37:26.141" v="83" actId="20577"/>
        <pc:sldMkLst>
          <pc:docMk/>
          <pc:sldMk cId="0" sldId="261"/>
        </pc:sldMkLst>
        <pc:spChg chg="mod">
          <ac:chgData name="Shailesh Sharma" userId="a7ea290c-3d2a-40af-adb6-a39efae6b028" providerId="ADAL" clId="{08BF48A7-2BA5-46F4-B74C-BF012D1059F4}" dt="2026-08-13T06:36:39.081" v="66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3T06:37:26.141" v="83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3T06:39:58.111" v="101"/>
        <pc:sldMkLst>
          <pc:docMk/>
          <pc:sldMk cId="0" sldId="262"/>
        </pc:sldMkLst>
        <pc:spChg chg="mod">
          <ac:chgData name="Shailesh Sharma" userId="a7ea290c-3d2a-40af-adb6-a39efae6b028" providerId="ADAL" clId="{08BF48A7-2BA5-46F4-B74C-BF012D1059F4}" dt="2026-08-13T06:38:59.612" v="86" actId="113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3T06:39:58.111" v="101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4T04:36:48.127" v="199" actId="114"/>
        <pc:sldMkLst>
          <pc:docMk/>
          <pc:sldMk cId="0" sldId="263"/>
        </pc:sldMkLst>
        <pc:spChg chg="mod">
          <ac:chgData name="Shailesh Sharma" userId="a7ea290c-3d2a-40af-adb6-a39efae6b028" providerId="ADAL" clId="{08BF48A7-2BA5-46F4-B74C-BF012D1059F4}" dt="2026-08-14T04:36:48.127" v="199" actId="114"/>
          <ac:spMkLst>
            <pc:docMk/>
            <pc:sldMk cId="0" sldId="263"/>
            <ac:spMk id="5" creationId="{00000000-0000-0000-0000-000000000000}"/>
          </ac:spMkLst>
        </pc:spChg>
        <pc:graphicFrameChg chg="modGraphic">
          <ac:chgData name="Shailesh Sharma" userId="a7ea290c-3d2a-40af-adb6-a39efae6b028" providerId="ADAL" clId="{08BF48A7-2BA5-46F4-B74C-BF012D1059F4}" dt="2026-08-13T06:41:16.184" v="106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Shailesh Sharma" userId="a7ea290c-3d2a-40af-adb6-a39efae6b028" providerId="ADAL" clId="{08BF48A7-2BA5-46F4-B74C-BF012D1059F4}" dt="2026-08-13T06:43:48.339" v="119" actId="14100"/>
        <pc:sldMkLst>
          <pc:docMk/>
          <pc:sldMk cId="0" sldId="265"/>
        </pc:sldMkLst>
        <pc:spChg chg="mod">
          <ac:chgData name="Shailesh Sharma" userId="a7ea290c-3d2a-40af-adb6-a39efae6b028" providerId="ADAL" clId="{08BF48A7-2BA5-46F4-B74C-BF012D1059F4}" dt="2026-08-13T06:43:48.339" v="119" actId="14100"/>
          <ac:spMkLst>
            <pc:docMk/>
            <pc:sldMk cId="0" sldId="265"/>
            <ac:spMk id="5" creationId="{00000000-0000-0000-0000-000000000000}"/>
          </ac:spMkLst>
        </pc:spChg>
      </pc:sldChg>
      <pc:sldChg chg="delSp modSp del mod">
        <pc:chgData name="Shailesh Sharma" userId="a7ea290c-3d2a-40af-adb6-a39efae6b028" providerId="ADAL" clId="{08BF48A7-2BA5-46F4-B74C-BF012D1059F4}" dt="2026-08-13T06:44:45.546" v="122" actId="47"/>
        <pc:sldMkLst>
          <pc:docMk/>
          <pc:sldMk cId="0" sldId="266"/>
        </pc:sldMkLst>
        <pc:spChg chg="del mod">
          <ac:chgData name="Shailesh Sharma" userId="a7ea290c-3d2a-40af-adb6-a39efae6b028" providerId="ADAL" clId="{08BF48A7-2BA5-46F4-B74C-BF012D1059F4}" dt="2026-08-13T06:44:23.163" v="121" actId="478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4T04:37:12.543" v="204" actId="207"/>
        <pc:sldMkLst>
          <pc:docMk/>
          <pc:sldMk cId="0" sldId="267"/>
        </pc:sldMkLst>
        <pc:spChg chg="mod">
          <ac:chgData name="Shailesh Sharma" userId="a7ea290c-3d2a-40af-adb6-a39efae6b028" providerId="ADAL" clId="{08BF48A7-2BA5-46F4-B74C-BF012D1059F4}" dt="2026-08-14T04:37:03.668" v="201" actId="207"/>
          <ac:spMkLst>
            <pc:docMk/>
            <pc:sldMk cId="0" sldId="267"/>
            <ac:spMk id="6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7:00.586" v="200" actId="20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7:06.578" v="202" actId="20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7:10.043" v="203" actId="207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7:12.543" v="204" actId="207"/>
          <ac:spMkLst>
            <pc:docMk/>
            <pc:sldMk cId="0" sldId="267"/>
            <ac:spMk id="22" creationId="{00000000-0000-0000-0000-000000000000}"/>
          </ac:spMkLst>
        </pc:spChg>
      </pc:sldChg>
      <pc:sldChg chg="modSp mod">
        <pc:chgData name="Shailesh Sharma" userId="a7ea290c-3d2a-40af-adb6-a39efae6b028" providerId="ADAL" clId="{08BF48A7-2BA5-46F4-B74C-BF012D1059F4}" dt="2026-08-14T04:35:20.644" v="190" actId="207"/>
        <pc:sldMkLst>
          <pc:docMk/>
          <pc:sldMk cId="0" sldId="268"/>
        </pc:sldMkLst>
        <pc:spChg chg="mod">
          <ac:chgData name="Shailesh Sharma" userId="a7ea290c-3d2a-40af-adb6-a39efae6b028" providerId="ADAL" clId="{08BF48A7-2BA5-46F4-B74C-BF012D1059F4}" dt="2026-08-14T04:35:16.134" v="189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Shailesh Sharma" userId="a7ea290c-3d2a-40af-adb6-a39efae6b028" providerId="ADAL" clId="{08BF48A7-2BA5-46F4-B74C-BF012D1059F4}" dt="2026-08-14T04:35:20.644" v="190" actId="207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4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One sentence on the assignment: leadership raised six concerns; this deck covers the five biggest findings, the customer segments, the outlook, and the dashboard where it all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to land: I kept the analysis honest despite building the data myself. Ground truth was held out of the pipeline. The code would run unchanged on real eSewa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chart. If failures were random across a lifetime the line would be flat. It is not: 13.8% on the first payment, 3.9% baseline after the fourth.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three leadership concerns into one problem: failed transactions, weak new-user retention, and rising acquisition cost. Fixing the first fixes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funnel is deliberately non-monotonic: customers can transact before verifying, under limits. That is itself a compliance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diagnostic reasoning: a fraud wave would not respect rail boundaries this cleanly, and a logging outage would distort volumes too. Both were considered and ruled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Vocabulary: this pattern is called structuring. The Risky segment on the next slides overlaps heavily with these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how: k-means on RFM features, log-transformed, validated against held-out labels. Risk is rule-based because failure rate is uncorrelated with engagement. Mention the first model failed and was fixed; that story is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to repeat: the most valuable 14% carry most of the money. Retention for them outperforms broad acquisition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I deliberately did a lightweight baseline instead of a full forecasting model, and traded that time for depth on diagnostics. A tested SARIMA or Prophet model is the natural next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by impact per effort. Each action traces back to a specific finding and a specific leadership concern; be ready to make that link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reproducibility line; it is the strongest trust signal in the whole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Customer, Risk and Growth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Data Analyst Assessment  ·  Round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Shailesh Sharma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analysed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history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approached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1549908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dataset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691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data was provided, so I generated a realistic one: 1M users, 25.3M transactions, with real-world patterns and real-world dirt.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2784348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and cleaned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25880" y="2926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integrity check run; 25,274 duplicate records (0.1%) found and removed so volumes are not overstated.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4018788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and tested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4160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funnels, anomalies; the headline finding is backed by a formal hypothesis test.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5253228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and shipped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25880" y="5394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Six customer groups with distinct behaviour, exported into an interactive Power BI dashboard.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85800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3600" dirty="0"/>
          </a:p>
        </p:txBody>
      </p:sp>
      <p:sp>
        <p:nvSpPr>
          <p:cNvPr id="20" name="Text 14"/>
          <p:cNvSpPr/>
          <p:nvPr/>
        </p:nvSpPr>
        <p:spPr>
          <a:xfrm>
            <a:off x="685800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50976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25.3M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950976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3600" dirty="0"/>
          </a:p>
        </p:txBody>
      </p:sp>
      <p:sp>
        <p:nvSpPr>
          <p:cNvPr id="24" name="Text 18"/>
          <p:cNvSpPr/>
          <p:nvPr/>
        </p:nvSpPr>
        <p:spPr>
          <a:xfrm>
            <a:off x="685800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5097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950976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payments fail 3.5x more than later 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payments fails (13.8%)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customer's fourth payment, failures settle near 1 in 25. The risk is concentrated exactly where the customer is least committed.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take: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first payment the most reliable moment in the product. Fix the technical causes; add instant retry with a small apology credit.</a:t>
            </a:r>
            <a:endParaRPr lang="en-US" sz="1300" dirty="0"/>
          </a:p>
        </p:txBody>
      </p:sp>
      <p:pic>
        <p:nvPicPr>
          <p:cNvPr id="7" name="Image 0" descr="/home/claude/fintech/report_assets/exec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309360" cy="3312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failed first payment costs 21 points of retention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 vs 74%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for a second payment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first experience loses roughly one in five new customers, after acquisition has already been paid for. Confirmed by a two-proportion test: the gap is real, not noise (z = 279).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take: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first-payment reliability as a retention investment, not a support ticket.</a:t>
            </a:r>
            <a:endParaRPr lang="en-US" sz="1300" dirty="0"/>
          </a:p>
        </p:txBody>
      </p:sp>
      <p:pic>
        <p:nvPicPr>
          <p:cNvPr id="7" name="Image 0" descr="/home/claude/fintech/report_assets/05_retention_first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leaks before customers ever 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signups never complete KYC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21 out of every 100 people who sign up never even start verification, and another 3 never make a payment. This means we're losing customers during onboarding, not because of a lack of advertising.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take: 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verification steps and track time-to-verify as a standard KPI.</a:t>
            </a:r>
            <a:endParaRPr lang="en-US" sz="1300" dirty="0"/>
          </a:p>
        </p:txBody>
      </p:sp>
      <p:pic>
        <p:nvPicPr>
          <p:cNvPr id="7" name="Image 0" descr="/home/claude/fintech/report_assets/06_kyc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309360" cy="3312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March spike was infrastructure, not fraud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rails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for 2 weeks, all else normal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Failures increased only for Merchant QR and Bank Transfers. Transaction amounts and volumes stayed normal, so this does not look like a fraud problem or a data outage.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take:  </a:t>
            </a:r>
            <a:r>
              <a:rPr lang="en-US" sz="1400" dirty="0"/>
              <a:t>Review the issue with the payment gateway provider and agree on clear service standards before transaction volume increases further.</a:t>
            </a:r>
            <a:endParaRPr lang="en-US" sz="1300" dirty="0"/>
          </a:p>
        </p:txBody>
      </p:sp>
      <p:pic>
        <p:nvPicPr>
          <p:cNvPr id="7" name="Image 0" descr="/home/claude/fintech/report_assets/exec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37360"/>
            <a:ext cx="640080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Transfers cluster just under the reporting threshold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100k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transfers stay just below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Splitting payments to stay below a limit can be a sign of money laundering. A small high-risk group (5% of users) is responsible for almost half of the failed payments, and very few of them complete verification.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take:  </a:t>
            </a:r>
            <a:r>
              <a:rPr lang="en-US" sz="1400" dirty="0"/>
              <a:t>Send these accounts for compliance review and limit what unverified users can do until they complete verification.</a:t>
            </a:r>
            <a:endParaRPr lang="en-US" sz="1300" dirty="0"/>
          </a:p>
        </p:txBody>
      </p:sp>
      <p:pic>
        <p:nvPicPr>
          <p:cNvPr id="7" name="Image 0" descr="/home/claude/fintech/report_assets/09_bank_struc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309360" cy="33124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customer groups, not one customer base</a:t>
            </a:r>
            <a:endParaRPr lang="en-US" sz="3000" dirty="0"/>
          </a:p>
        </p:txBody>
      </p:sp>
      <p:pic>
        <p:nvPicPr>
          <p:cNvPr id="3" name="Image 0" descr="/home/claude/fintech/report_assets/11_segment_siz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852160" cy="3344091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50246"/>
              </p:ext>
            </p:extLst>
          </p:nvPr>
        </p:nvGraphicFramePr>
        <p:xfrm>
          <a:off x="6629400" y="1600200"/>
          <a:ext cx="5029200" cy="26883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spend, near-daily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use, moderate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Occasional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active, gone quiet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 failures, 7% verified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up, never paid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62940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Groups found by clustering behaviour (recency, frequency, spend); the Risky group by explicit rule, since risk proved independent of engagement.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group needs a different play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them: priority support, perks, bundles. Keeping them is cheaper than replacing them.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them into advocates: referral rewards aimed at the 40% who use us constantly.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second service; service diversity is the clearest upgrade path.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offers, tested first: many came only for cashback promotions.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 and limits on unverified accounts.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within days of signup, and make sure the first payment succeeds.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keeps growing: plan for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6bn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 volume, and rising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The orange dashed line shows the recent trend, not an exact forecast. Use it as a planning guide: prepare capacity and cashback budgets for continued growth. March showed the risk when service reliability could not keep up.</a:t>
            </a:r>
          </a:p>
        </p:txBody>
      </p:sp>
      <p:pic>
        <p:nvPicPr>
          <p:cNvPr id="6" name="Image 0" descr="/home/claude/fintech/report_assets/08_monthly_tpv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37360"/>
            <a:ext cx="6492240" cy="3029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actions, ranked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356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first-payment reliability and add an instant retry flow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80160" y="18013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protects new-customer retention and the acquisition budget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597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KYC and track time-to-verify as a KPI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80160" y="28254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plugs the biggest leak in the onboarding funnel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838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gateway incident review and set service levels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8496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repeat of March as volume grows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5079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structuring accounts and the Risky group to compliance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48737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clearest suspicious-activity exposure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559552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532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High-Value retention programme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8016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defends the 14% of customers who carry most of the money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Every number in this deck is reproducible from code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Happy to go deeper on any part: the data build, the statistics, the segmentation, or the dashboard.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[Shailesh Sharma]  ·  [ssharma.balkhu@gmail.com]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1249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Shailesh Sharma</cp:lastModifiedBy>
  <cp:revision>1</cp:revision>
  <dcterms:created xsi:type="dcterms:W3CDTF">2026-08-13T06:03:18Z</dcterms:created>
  <dcterms:modified xsi:type="dcterms:W3CDTF">2026-08-14T04:37:20Z</dcterms:modified>
</cp:coreProperties>
</file>